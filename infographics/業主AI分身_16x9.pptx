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9525">
            <a:solidFill>
              <a:srgbClr val="E2C38B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繽紛室內設計　｜　家飾部 AI 陪跑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 AI 分身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</a:t>
            </a:r>
            <a:pPr indent="0" marL="0">
              <a:buNone/>
            </a:pPr>
            <a:r>
              <a:rPr lang="en-US" sz="24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預測選擇</a:t>
            </a:r>
            <a:pPr indent="0" marL="0">
              <a:buNone/>
            </a:pPr>
            <a:r>
              <a:rPr lang="en-US" sz="2400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」到「</a:t>
            </a:r>
            <a:pPr indent="0" marL="0">
              <a:buNone/>
            </a:pPr>
            <a:r>
              <a:rPr lang="en-US" sz="24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影響判斷</a:t>
            </a:r>
            <a:pPr indent="0" marL="0">
              <a:buNone/>
            </a:pPr>
            <a:r>
              <a:rPr lang="en-US" sz="2400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幫得上 vs 幫不上　·　為什麼會議記錄是關鍵　·　提案的本質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08415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湛智</a:t>
            </a:r>
            <a:pPr algn="r" indent="0" marL="0">
              <a:buNone/>
            </a:pPr>
            <a:r>
              <a:rPr lang="en-US" sz="1000" spc="200" kern="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｜棍子教練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59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9525">
            <a:solidFill>
              <a:srgbClr val="E2C38B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繽紛室內設計　｜　家飾部 AI 陪跑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 AI 分身：幫得上 vs 幫不上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4475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分析能力有用，選品預測沒用──問題卡在「把理由轉成具體品項」那一步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84778" cy="731520"/>
          </a:xfrm>
          <a:prstGeom prst="roundRect">
            <a:avLst>
              <a:gd name="adj" fmla="val 15000"/>
            </a:avLst>
          </a:prstGeom>
          <a:solidFill>
            <a:srgbClr val="1A1510">
              <a:alpha val="70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0253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002536"/>
            <a:ext cx="1381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具體品項精準命中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3458" y="1920240"/>
            <a:ext cx="3484778" cy="731520"/>
          </a:xfrm>
          <a:prstGeom prst="roundRect">
            <a:avLst>
              <a:gd name="adj" fmla="val 15000"/>
            </a:avLst>
          </a:prstGeom>
          <a:solidFill>
            <a:srgbClr val="1A1510">
              <a:alpha val="70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7778" y="200253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方向準確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319418" y="2002536"/>
            <a:ext cx="1381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業主喜好描述與理由大致正確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6837" y="1920240"/>
            <a:ext cx="3484778" cy="731520"/>
          </a:xfrm>
          <a:prstGeom prst="roundRect">
            <a:avLst>
              <a:gd name="adj" fmla="val 15000"/>
            </a:avLst>
          </a:prstGeom>
          <a:solidFill>
            <a:srgbClr val="1A1510">
              <a:alpha val="70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00253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3–5 成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0032797" y="2002536"/>
            <a:ext cx="1381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過去人工提案命中率（參考）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816352"/>
            <a:ext cx="5318608" cy="3401568"/>
          </a:xfrm>
          <a:prstGeom prst="roundRect">
            <a:avLst>
              <a:gd name="adj" fmla="val 3226"/>
            </a:avLst>
          </a:prstGeom>
          <a:solidFill>
            <a:srgbClr val="1A1510">
              <a:alpha val="78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17520"/>
            <a:ext cx="365760" cy="365760"/>
          </a:xfrm>
          <a:prstGeom prst="ellipse">
            <a:avLst/>
          </a:prstGeom>
          <a:ln w="15875">
            <a:solidFill>
              <a:srgbClr val="9CC9A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C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2999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C9A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有幫助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2999232"/>
            <a:ext cx="303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站在業主角度思考的能力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566160"/>
            <a:ext cx="4769968" cy="0"/>
          </a:xfrm>
          <a:prstGeom prst="line">
            <a:avLst/>
          </a:prstGeom>
          <a:noFill/>
          <a:ln w="9525">
            <a:solidFill>
              <a:srgbClr val="E2C38B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703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喜好描述準確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3721608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玄關「精緻、不複雜、柔和帶古典」、壁紙「不要太豐富、喜歡新穎、不喜細碎」都符合業主真實偏好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3251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提案策略建議奏效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4343400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「不用給太多方案，講清楚推薦哪個、為什麼」──照做後部分品項業主採納推薦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94690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多一位討論對象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834640" y="4965192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不再只能團隊內部猜或找不在現場的老闆，多了一位「小業主 member」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56869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補強提案文案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5586984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提案文字可加入業主偏好的語言，而非只寫設計師視角的形容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33008" y="2816352"/>
            <a:ext cx="5318608" cy="3401568"/>
          </a:xfrm>
          <a:prstGeom prst="roundRect">
            <a:avLst>
              <a:gd name="adj" fmla="val 3226"/>
            </a:avLst>
          </a:prstGeom>
          <a:solidFill>
            <a:srgbClr val="1A1510">
              <a:alpha val="78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07328" y="3017520"/>
            <a:ext cx="365760" cy="365760"/>
          </a:xfrm>
          <a:prstGeom prst="ellipse">
            <a:avLst/>
          </a:prstGeom>
          <a:ln w="15875">
            <a:solidFill>
              <a:srgbClr val="E79A8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07328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9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10248" y="2999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9A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沒幫助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8244688" y="2999232"/>
            <a:ext cx="303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精準預測業主會選哪一款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07328" y="3566160"/>
            <a:ext cx="4769968" cy="0"/>
          </a:xfrm>
          <a:prstGeom prst="line">
            <a:avLst/>
          </a:prstGeom>
          <a:noFill/>
          <a:ln w="9525">
            <a:solidFill>
              <a:srgbClr val="E2C38B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07328" y="37033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具體選品只中三成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427568" y="3721608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例：AI 選 B、D、G，業主選了不在名單內的 C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507328" y="43251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看不到風格以外的變因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427568" y="4343400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施工節奏（壁燈要早定、桌燈不急）、要看實體才放心、在店裡自己看到喜歡的、看過現場材料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507328" y="494690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相似品項分不出來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427568" y="4965192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候選圖轉成文字後描述相近，在 AI 眼中幾乎長一樣，只能硬選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507328" y="556869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多一道工序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427568" y="5586984"/>
            <a:ext cx="289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整理會議記錄、丟檔、建分身都要時間；這次錄音檔卡關，最後仍靠人工整理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808415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湛智</a:t>
            </a:r>
            <a:pPr algn="r" indent="0" marL="0">
              <a:buNone/>
            </a:pPr>
            <a:r>
              <a:rPr lang="en-US" sz="1000" spc="200" kern="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｜棍子教練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59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9525">
            <a:solidFill>
              <a:srgbClr val="E2C38B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繽紛室內設計　｜　家飾部 AI 陪跑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定位調整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它是提案過程中的「</a:t>
            </a:r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輔助判斷夥伴</a:t>
            </a:r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不是預測業主選哪一款的答題機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下一步怎麼做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0E0C0A">
              <a:alpha val="80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315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2803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把業主實際選擇回灌給分身，追問落差原因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53458" y="411480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0E0C0A">
              <a:alpha val="80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7778" y="4315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482803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詢問時機前移到收集圖片階段，分段問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6837" y="4114800"/>
            <a:ext cx="3484778" cy="1463040"/>
          </a:xfrm>
          <a:prstGeom prst="roundRect">
            <a:avLst>
              <a:gd name="adj" fmla="val 7500"/>
            </a:avLst>
          </a:prstGeom>
          <a:solidFill>
            <a:srgbClr val="0E0C0A">
              <a:alpha val="80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1157" y="4315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341157" y="4828032"/>
            <a:ext cx="2936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會議錄音逐字稿作為完整背景資料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08415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湛智</a:t>
            </a:r>
            <a:pPr algn="r" indent="0" marL="0">
              <a:buNone/>
            </a:pPr>
            <a:r>
              <a:rPr lang="en-US" sz="1000" spc="200" kern="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｜棍子教練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59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9525">
            <a:solidFill>
              <a:srgbClr val="E2C38B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繽紛室內設計　｜　家飾部 AI 陪跑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058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會議記錄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是關鍵？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 AI 分身準不準，取決於它手上有多少業主的真實資訊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0E0C0A">
              <a:alpha val="85000"/>
            </a:srgbClr>
          </a:solidFill>
          <a:ln w="9525">
            <a:solidFill>
              <a:srgbClr val="E2C38B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7548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業主分身的上限，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取決於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會議記錄的完整度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00600" y="566928"/>
            <a:ext cx="6751015" cy="1005840"/>
          </a:xfrm>
          <a:prstGeom prst="roundRect">
            <a:avLst>
              <a:gd name="adj" fmla="val 10909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566928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694944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業主的判斷才是推進案子的關鍵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1005840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提案的目的是讓業主做判斷、買單、往下推。會議記錄保留的，正是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業主怎麼判斷、為什麼這樣判斷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1682496"/>
            <a:ext cx="6751015" cy="1005840"/>
          </a:xfrm>
          <a:prstGeom prst="roundRect">
            <a:avLst>
              <a:gd name="adj" fmla="val 10909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1682496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1810512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從「通靈」變成有根據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2121408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過去靠記憶和想像猜業主在想什麼，但記憶會漏、狀態不好時更會漏。有了記錄，業主講過的話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不會變成黑洞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798064"/>
            <a:ext cx="6751015" cy="1005840"/>
          </a:xfrm>
          <a:prstGeom prst="roundRect">
            <a:avLst>
              <a:gd name="adj" fmla="val 10909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2798064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2926080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選品不準，缺的正是記錄裡的資訊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236976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要看實體才放心、桌燈想再看看、在店裡自己看到喜歡的、看過現場石材──這些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只會出現在會議裡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，AI 沒拿到只能硬猜。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913632"/>
            <a:ext cx="6751015" cy="1005840"/>
          </a:xfrm>
          <a:prstGeom prst="roundRect">
            <a:avLst>
              <a:gd name="adj" fmla="val 10909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3913632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4041648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沒有記錄，就沒有校正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4352544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業主實際選了什麼沒回灌，AI 永遠不知道自己錯在哪。會議記錄是讓命中率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從三成往上提升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的唯一回饋來源。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5029200"/>
            <a:ext cx="6751015" cy="1005840"/>
          </a:xfrm>
          <a:prstGeom prst="roundRect">
            <a:avLst>
              <a:gd name="adj" fmla="val 10909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83480" y="502920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5157216"/>
            <a:ext cx="5470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完整記錄勝過人腦過濾的重點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5468112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看似無關的一句話可能藏著線索，例如客戶隨口說「在忙招生」其實透露了業務狀況。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錄音逐字稿能保留這些會被濾掉的資訊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808415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湛智</a:t>
            </a:r>
            <a:pPr algn="r" indent="0" marL="0">
              <a:buNone/>
            </a:pPr>
            <a:r>
              <a:rPr lang="en-US" sz="1000" spc="200" kern="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｜棍子教練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59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9525">
            <a:solidFill>
              <a:srgbClr val="E2C38B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繽紛室內設計　｜　家飾部 AI 陪跑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提案的本質：影響判斷，不是預測選擇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4475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 AI 分身該站的位置──協助人去影響業主的判斷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892040" cy="1874520"/>
          </a:xfrm>
          <a:prstGeom prst="roundRect">
            <a:avLst>
              <a:gd name="adj" fmla="val 5854"/>
            </a:avLst>
          </a:prstGeom>
          <a:solidFill>
            <a:srgbClr val="2A2420">
              <a:alpha val="65000"/>
            </a:srgbClr>
          </a:solidFill>
          <a:ln w="9525">
            <a:solidFill>
              <a:srgbClr val="E2C38B">
                <a:alpha val="2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過去的定位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trike="sngStrike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186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猜業主會選哪一個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命中三成就算失敗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2011680"/>
            <a:ext cx="112745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659575" y="2011680"/>
            <a:ext cx="4892040" cy="1874520"/>
          </a:xfrm>
          <a:prstGeom prst="roundRect">
            <a:avLst>
              <a:gd name="adj" fmla="val 5854"/>
            </a:avLst>
          </a:prstGeom>
          <a:solidFill>
            <a:srgbClr val="1C2A4A">
              <a:alpha val="92000"/>
            </a:srgbClr>
          </a:solidFill>
          <a:ln w="9525">
            <a:solidFill>
              <a:srgbClr val="E2C38B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25335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新的定位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25335" y="2560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025335" y="32186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讓業主選得更快、更有把握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懂業主在意什麼才是核心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10911535" cy="1645920"/>
          </a:xfrm>
          <a:prstGeom prst="roundRect">
            <a:avLst>
              <a:gd name="adj" fmla="val 6667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526280"/>
            <a:ext cx="384048" cy="384048"/>
          </a:xfrm>
          <a:prstGeom prst="ellipse">
            <a:avLst/>
          </a:prstGeom>
          <a:ln w="15875">
            <a:solidFill>
              <a:srgbClr val="E2C3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262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為什麼這解釋了「理由對、選品錯」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074920"/>
            <a:ext cx="9631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已經做對最有價值的部分：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抓到業主在意什麼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（乾淨、不複雜、新穎、不要細碎）。這些理解正是說服業主的材料。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上次奏效的「講清楚推薦哪個、為什麼」，本來就是影響，不是預測。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808415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湛智</a:t>
            </a:r>
            <a:pPr algn="r" indent="0" marL="0">
              <a:buNone/>
            </a:pPr>
            <a:r>
              <a:rPr lang="en-US" sz="1000" spc="200" kern="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｜棍子教練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59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9525">
            <a:solidFill>
              <a:srgbClr val="E2C38B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繽紛室內設計　｜　家飾部 AI 陪跑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工具用法跟著變，成效衡量也要改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4475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從「猜業主選哪個」換成「幫團隊把推薦講到業主買單」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TOOLS　工具用法跟著變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360420" cy="1645920"/>
          </a:xfrm>
          <a:prstGeom prst="roundRect">
            <a:avLst>
              <a:gd name="adj" fmla="val 6667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6243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42616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問法要換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154680"/>
            <a:ext cx="2811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不問「業主會選哪個」，改問「我要推 C，他可能卡在哪？怎麼講他比較會買單？」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29100" y="2423160"/>
            <a:ext cx="3360420" cy="1645920"/>
          </a:xfrm>
          <a:prstGeom prst="roundRect">
            <a:avLst>
              <a:gd name="adj" fmla="val 6667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3420" y="26243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143500" y="2642616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方案要收斂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03420" y="3154680"/>
            <a:ext cx="2811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決定給業主看哪幾個、推薦哪一個、用什麼順序呈現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360420" cy="1645920"/>
          </a:xfrm>
          <a:prstGeom prst="roundRect">
            <a:avLst>
              <a:gd name="adj" fmla="val 6667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4988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517136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預演反對意見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29200"/>
            <a:ext cx="2811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會前讓 AI 扮業主提出質疑，團隊先準備好回應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29100" y="4297680"/>
            <a:ext cx="3360420" cy="1645920"/>
          </a:xfrm>
          <a:prstGeom prst="roundRect">
            <a:avLst>
              <a:gd name="adj" fmla="val 6667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3420" y="44988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2C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143500" y="4517136"/>
            <a:ext cx="2171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考量決策時機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03420" y="5029200"/>
            <a:ext cx="28117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壁燈、吊燈要早定──提案時就讓業主理解為什麼現在要決定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201168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METRICS　成效衡量也要改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2423160"/>
            <a:ext cx="3550615" cy="777240"/>
          </a:xfrm>
          <a:prstGeom prst="roundRect">
            <a:avLst>
              <a:gd name="adj" fmla="val 14118"/>
            </a:avLst>
          </a:prstGeom>
          <a:solidFill>
            <a:srgbClr val="1A1510">
              <a:alpha val="50000"/>
            </a:srgbClr>
          </a:solidFill>
          <a:ln w="9525">
            <a:solidFill>
              <a:srgbClr val="E2C38B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647188"/>
            <a:ext cx="329184" cy="329184"/>
          </a:xfrm>
          <a:prstGeom prst="ellipse">
            <a:avLst/>
          </a:prstGeom>
          <a:ln w="15875">
            <a:solidFill>
              <a:srgbClr val="E79A8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26471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9A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254203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strike="sngStrike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命中率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288036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舊指標，不再作為主要標準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01000" y="3337560"/>
            <a:ext cx="3550615" cy="777240"/>
          </a:xfrm>
          <a:prstGeom prst="roundRect">
            <a:avLst>
              <a:gd name="adj" fmla="val 14118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561588"/>
            <a:ext cx="329184" cy="329184"/>
          </a:xfrm>
          <a:prstGeom prst="ellipse">
            <a:avLst/>
          </a:prstGeom>
          <a:ln w="15875">
            <a:solidFill>
              <a:srgbClr val="9CC9A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35615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345643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推薦採納率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379476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業主接受我們推薦的比例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01000" y="4251960"/>
            <a:ext cx="3550615" cy="777240"/>
          </a:xfrm>
          <a:prstGeom prst="roundRect">
            <a:avLst>
              <a:gd name="adj" fmla="val 14118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4475988"/>
            <a:ext cx="329184" cy="329184"/>
          </a:xfrm>
          <a:prstGeom prst="ellipse">
            <a:avLst/>
          </a:prstGeom>
          <a:ln w="15875">
            <a:solidFill>
              <a:srgbClr val="9CC9A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0" y="44759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732520" y="437083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決策速度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732520" y="470916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業主多久做出決定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5166360"/>
            <a:ext cx="3550615" cy="777240"/>
          </a:xfrm>
          <a:prstGeom prst="roundRect">
            <a:avLst>
              <a:gd name="adj" fmla="val 14118"/>
            </a:avLst>
          </a:prstGeom>
          <a:solidFill>
            <a:srgbClr val="1A1510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5390388"/>
            <a:ext cx="329184" cy="329184"/>
          </a:xfrm>
          <a:prstGeom prst="ellipse">
            <a:avLst/>
          </a:prstGeom>
          <a:ln w="15875">
            <a:solidFill>
              <a:srgbClr val="9CC9A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0" y="53903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C9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732520" y="5285232"/>
            <a:ext cx="2636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修改輪數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8732520" y="562356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來回調整幾次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808415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湛智</a:t>
            </a:r>
            <a:pPr algn="r" indent="0" marL="0">
              <a:buNone/>
            </a:pPr>
            <a:r>
              <a:rPr lang="en-US" sz="1000" spc="200" kern="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｜棍子教練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59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ln w="9525">
            <a:solidFill>
              <a:srgbClr val="E2C38B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1920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守住的原則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幫業主更快做出</a:t>
            </a:r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對他好的決定</a:t>
            </a:r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endParaRPr lang="en-US" sz="3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800" b="1" dirty="0">
                <a:solidFill>
                  <a:srgbClr val="F7EFE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而不是讓業主選我們想賣的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255368" y="4434840"/>
            <a:ext cx="7680960" cy="731520"/>
          </a:xfrm>
          <a:prstGeom prst="roundRect">
            <a:avLst>
              <a:gd name="adj" fmla="val 15000"/>
            </a:avLst>
          </a:prstGeom>
          <a:solidFill>
            <a:srgbClr val="0E0C0A">
              <a:alpha val="75000"/>
            </a:srgbClr>
          </a:solidFill>
          <a:ln w="9525">
            <a:solidFill>
              <a:srgbClr val="E2C38B">
                <a:alpha val="28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55368" y="4434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會議記錄的角色也跟著升級：從「預測的訓練資料」變成「</a:t>
            </a:r>
            <a:pPr algn="ctr" indent="0" marL="0">
              <a:buNone/>
            </a:pPr>
            <a:r>
              <a:rPr lang="en-US" sz="1400" b="1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說服的彈藥庫</a:t>
            </a:r>
            <a:pPr algn="ctr" indent="0" marL="0">
              <a:buNone/>
            </a:pPr>
            <a:r>
              <a:rPr lang="en-US" sz="1400" dirty="0">
                <a:solidFill>
                  <a:srgbClr val="D6CBB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808415" y="6291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E2C3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湛智</a:t>
            </a:r>
            <a:pPr algn="r" indent="0" marL="0">
              <a:buNone/>
            </a:pPr>
            <a:r>
              <a:rPr lang="en-US" sz="1000" spc="200" kern="0" dirty="0">
                <a:solidFill>
                  <a:srgbClr val="A59A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｜棍子教練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291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A59A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業主 AI 分身｜家飾部 AI 陪跑</dc:title>
  <dc:subject>PptxGenJS Presentation</dc:subject>
  <dc:creator>湛智｜棍子教練</dc:creator>
  <cp:lastModifiedBy>湛智｜棍子教練</cp:lastModifiedBy>
  <cp:revision>1</cp:revision>
  <dcterms:created xsi:type="dcterms:W3CDTF">2026-09-25T09:30:52Z</dcterms:created>
  <dcterms:modified xsi:type="dcterms:W3CDTF">2026-09-25T09:30:52Z</dcterms:modified>
</cp:coreProperties>
</file>